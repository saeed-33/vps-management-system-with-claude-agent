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a67c5270c941d9" /><Relationship Type="http://schemas.openxmlformats.org/officeDocument/2006/relationships/extended-properties" Target="/docProps/app.xml" Id="Rfe7b235f69a84b5e" /><Relationship Type="http://schemas.openxmlformats.org/officeDocument/2006/relationships/officeDocument" Target="/ppt/presentation.xml" Id="R029947da50574e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a73bf85b604765"/>
  </p:sldMasterIdLst>
  <p:notesMasterIdLst>
    <p:notesMasterId xmlns:r="http://schemas.openxmlformats.org/officeDocument/2006/relationships" r:id="R3b3993195406415c"/>
  </p:notesMasterIdLst>
  <p:sldIdLst>
    <p:sldId xmlns:r="http://schemas.openxmlformats.org/officeDocument/2006/relationships" id="256" r:id="Ra167380b8f4642f8"/>
    <p:sldId xmlns:r="http://schemas.openxmlformats.org/officeDocument/2006/relationships" id="257" r:id="R8339af910c174ce5"/>
    <p:sldId xmlns:r="http://schemas.openxmlformats.org/officeDocument/2006/relationships" id="258" r:id="R7967745238c3404d"/>
    <p:sldId xmlns:r="http://schemas.openxmlformats.org/officeDocument/2006/relationships" id="259" r:id="R596de4b63c794e5b"/>
    <p:sldId xmlns:r="http://schemas.openxmlformats.org/officeDocument/2006/relationships" id="260" r:id="R20fde637c4734c0c"/>
    <p:sldId xmlns:r="http://schemas.openxmlformats.org/officeDocument/2006/relationships" id="261" r:id="R7736ea93dbea409a"/>
    <p:sldId xmlns:r="http://schemas.openxmlformats.org/officeDocument/2006/relationships" id="262" r:id="R62db01b8f5f348b8"/>
    <p:sldId xmlns:r="http://schemas.openxmlformats.org/officeDocument/2006/relationships" id="263" r:id="R7c8598264efd42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6ace63e99b4288" /><Relationship Type="http://schemas.openxmlformats.org/officeDocument/2006/relationships/slideMaster" Target="/ppt/slideMasters/slideMaster1.xml" Id="R71a73bf85b604765" /><Relationship Type="http://schemas.openxmlformats.org/officeDocument/2006/relationships/notesMaster" Target="/ppt/notesMasters/notesMaster1.xml" Id="R3b3993195406415c" /><Relationship Type="http://schemas.openxmlformats.org/officeDocument/2006/relationships/presProps" Target="/ppt/presProps.xml" Id="Re15046a0f66643b9" /><Relationship Type="http://schemas.openxmlformats.org/officeDocument/2006/relationships/tableStyles" Target="/ppt/tableStyles.xml" Id="R99d9068e6c8b48ba" /><Relationship Type="http://schemas.openxmlformats.org/officeDocument/2006/relationships/slide" Target="/ppt/slides/slide1.xml" Id="Ra167380b8f4642f8" /><Relationship Type="http://schemas.openxmlformats.org/officeDocument/2006/relationships/slide" Target="/ppt/slides/slide2.xml" Id="R8339af910c174ce5" /><Relationship Type="http://schemas.openxmlformats.org/officeDocument/2006/relationships/slide" Target="/ppt/slides/slide3.xml" Id="R7967745238c3404d" /><Relationship Type="http://schemas.openxmlformats.org/officeDocument/2006/relationships/slide" Target="/ppt/slides/slide4.xml" Id="R596de4b63c794e5b" /><Relationship Type="http://schemas.openxmlformats.org/officeDocument/2006/relationships/slide" Target="/ppt/slides/slide5.xml" Id="R20fde637c4734c0c" /><Relationship Type="http://schemas.openxmlformats.org/officeDocument/2006/relationships/slide" Target="/ppt/slides/slide6.xml" Id="R7736ea93dbea409a" /><Relationship Type="http://schemas.openxmlformats.org/officeDocument/2006/relationships/slide" Target="/ppt/slides/slide7.xml" Id="R62db01b8f5f348b8" /><Relationship Type="http://schemas.openxmlformats.org/officeDocument/2006/relationships/slide" Target="/ppt/slides/slide8.xml" Id="R7c8598264efd42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1210e5afba49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a7fa26b6044a27" /><Relationship Type="http://schemas.openxmlformats.org/officeDocument/2006/relationships/notesMaster" Target="/ppt/notesMasters/notesMaster1.xml" Id="R3b4371d9b5b449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a8bac247e04768" /><Relationship Type="http://schemas.openxmlformats.org/officeDocument/2006/relationships/notesMaster" Target="/ppt/notesMasters/notesMaster1.xml" Id="R9d6129eccdff49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2b2502b35e4fdf" /><Relationship Type="http://schemas.openxmlformats.org/officeDocument/2006/relationships/notesMaster" Target="/ppt/notesMasters/notesMaster1.xml" Id="R56537e9bf96f47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652036aac14b54" /><Relationship Type="http://schemas.openxmlformats.org/officeDocument/2006/relationships/notesMaster" Target="/ppt/notesMasters/notesMaster1.xml" Id="Rf113f2b398a540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7ad2c8e27f426e" /><Relationship Type="http://schemas.openxmlformats.org/officeDocument/2006/relationships/notesMaster" Target="/ppt/notesMasters/notesMaster1.xml" Id="Re7590eb1fcd846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be41d1458645a7" /><Relationship Type="http://schemas.openxmlformats.org/officeDocument/2006/relationships/notesMaster" Target="/ppt/notesMasters/notesMaster1.xml" Id="Rbb6b00eda3bb4b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d1626eaaca46f2" /><Relationship Type="http://schemas.openxmlformats.org/officeDocument/2006/relationships/notesMaster" Target="/ppt/notesMasters/notesMaster1.xml" Id="R540e434ba5294a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d33472f2a74853" /><Relationship Type="http://schemas.openxmlformats.org/officeDocument/2006/relationships/notesMaster" Target="/ppt/notesMasters/notesMaster1.xml" Id="R1617d5a6b07c4f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Time: 25 seconds</a:t>
            </a:r>
          </a:p>
          <a:p xmlns:a="http://schemas.openxmlformats.org/drawingml/2006/main">
            <a:r>
              <a:t>• ابدأ بالهدف: إدارة VPS بشكل ذكي، لكن ضمن حدود أمان قابلة للتدقيق.</a:t>
            </a:r>
          </a:p>
          <a:p xmlns:a="http://schemas.openxmlformats.org/drawingml/2006/main">
            <a:r>
              <a:t>• أكد أن النظام يفصل بين التفكير والتنفيذ ولا يمنح النموذج وصولًا مباشرًا.</a:t>
            </a:r>
          </a:p>
          <a:p xmlns:a="http://schemas.openxmlformats.org/drawingml/2006/main">
            <a:r>
              <a:t>• انتقل إلى سبب الحاجة إلى هذا النظام والمتطلبات التي يحققها.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المحتوى مبني على موجز المشروع المقدم من الطالب؛ لا توجد مصادر خارجية أو أصول خارجية.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Time: 65 seconds</a:t>
            </a:r>
          </a:p>
          <a:p xmlns:a="http://schemas.openxmlformats.org/drawingml/2006/main">
            <a:r>
              <a:t>• وضح أن المشكلة ليست غياب الأدوات، بل صعوبة اتخاذ قرار آمن تحت ضغط الأعطال.</a:t>
            </a:r>
          </a:p>
          <a:p xmlns:a="http://schemas.openxmlformats.org/drawingml/2006/main">
            <a:r>
              <a:t>• اربط المتطلبات بمسار واضح: مراقبة، تحليل، Evidence، اختبار، سياسة، تنفيذ.</a:t>
            </a:r>
          </a:p>
          <a:p xmlns:a="http://schemas.openxmlformats.org/drawingml/2006/main">
            <a:r>
              <a:t>• اذكر انحراف Telegram مرة واحدة فقط بوصفه مقبولًا وغير منفذ.</a:t>
            </a:r>
          </a:p>
          <a:p xmlns:a="http://schemas.openxmlformats.org/drawingml/2006/main">
            <a:r>
              <a:t>• انتقل إلى المعمارية التي توزع هذه المسؤوليات على طبقات واضحة.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المحتوى مبني على موجز المشروع المقدم من الطالب؛ لا توجد مصادر خارجية أو أصول خارجية.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Time: 80 seconds</a:t>
            </a:r>
          </a:p>
          <a:p xmlns:a="http://schemas.openxmlformats.org/drawingml/2006/main">
            <a:r>
              <a:t>• تبدأ الدورة من Scheduler، ثم ينسق Claude الخطوات ولا ينفذ مباشرة على الخادم.</a:t>
            </a:r>
          </a:p>
          <a:p xmlns:a="http://schemas.openxmlformats.org/drawingml/2006/main">
            <a:r>
              <a:t>• كل قدرة تمر عبر MCP، بينما تنفذ Services العمل الحقيقي وتحفظ النتائج.</a:t>
            </a:r>
          </a:p>
          <a:p xmlns:a="http://schemas.openxmlformats.org/drawingml/2006/main">
            <a:r>
              <a:t>• Evidence تدعم التشخيص، وRemediation تمر عبر Sandbox ثم Policy قبل التنفيذ.</a:t>
            </a:r>
          </a:p>
          <a:p xmlns:a="http://schemas.openxmlformats.org/drawingml/2006/main">
            <a:r>
              <a:t>• Admin UI تعرض النتائج وتوفر الموافقة، ولا تتجاوز Safety Layer.</a:t>
            </a:r>
          </a:p>
          <a:p xmlns:a="http://schemas.openxmlformats.org/drawingml/2006/main">
            <a:r>
              <a:t>• انتقل إلى المنهجيات التي تجعل الفصل والاختبار قابلين للصيانة.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المحتوى مبني على موجز المشروع المقدم من الطالب؛ لا توجد مصادر خارجية أو أصول خارجية.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Time: 75 seconds</a:t>
            </a:r>
          </a:p>
          <a:p xmlns:a="http://schemas.openxmlformats.org/drawingml/2006/main">
            <a:r>
              <a:t>• اشرح أن Layered modular architecture مستخدمة هنا كهيكل عملي، لا كادعاء عن Microservices.</a:t>
            </a:r>
          </a:p>
          <a:p xmlns:a="http://schemas.openxmlformats.org/drawingml/2006/main">
            <a:r>
              <a:t>• أبرز Composition Root وRepository وService Layer لأنها تفصل القرارات عن التفاصيل.</a:t>
            </a:r>
          </a:p>
          <a:p xmlns:a="http://schemas.openxmlformats.org/drawingml/2006/main">
            <a:r>
              <a:t>• وضح دور Adapter وBuilder في ضبط الأنظمة الخارجية والأمر المقيد.</a:t>
            </a:r>
          </a:p>
          <a:p xmlns:a="http://schemas.openxmlformats.org/drawingml/2006/main">
            <a:r>
              <a:t>• اختم بأن Fail-Closed يحول نقص الدليل أو الصلاحية إلى DENY.</a:t>
            </a:r>
          </a:p>
          <a:p xmlns:a="http://schemas.openxmlformats.org/drawingml/2006/main">
            <a:r>
              <a:t>• انتقل إلى طريقة الاسترجاع التي تغذي التحليل بسياق ذي صلة.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المحتوى مبني على موجز المشروع المقدم من الطالب؛ لا توجد مصادر خارجية أو أصول خارجية.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Time: 75 seconds</a:t>
            </a:r>
          </a:p>
          <a:p xmlns:a="http://schemas.openxmlformats.org/drawingml/2006/main">
            <a:r>
              <a:t>• ابدأ من Current Report ثم وضح أن Exact Reuse يقلل الاستدعاءات غير الضرورية.</a:t>
            </a:r>
          </a:p>
          <a:p xmlns:a="http://schemas.openxmlformats.org/drawingml/2006/main">
            <a:r>
              <a:t>• اشرح أن Vector Search وFull-Text Search يكمل أحدهما الآخر.</a:t>
            </a:r>
          </a:p>
          <a:p xmlns:a="http://schemas.openxmlformats.org/drawingml/2006/main">
            <a:r>
              <a:t>• RRF يدمج ترتيب النتائج، وSimilarity Threshold وTop-K يضبطان السياق.</a:t>
            </a:r>
          </a:p>
          <a:p xmlns:a="http://schemas.openxmlformats.org/drawingml/2006/main">
            <a:r>
              <a:t>• اربط النتيجة بتقليل Hallucination والضجيج بدل تقديم RAG ككلمة تقنية فقط.</a:t>
            </a:r>
          </a:p>
          <a:p xmlns:a="http://schemas.openxmlformats.org/drawingml/2006/main">
            <a:r>
              <a:t>• انتقل إلى ما يحدث عندما لا تكفي النتائج العامة ويحتاج النظام إلى Investigation.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المحتوى مبني على موجز المشروع المقدم من الطالب؛ لا توجد مصادر خارجية أو أصول خارجية.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Time: 65 seconds</a:t>
            </a:r>
          </a:p>
          <a:p xmlns:a="http://schemas.openxmlformats.org/drawingml/2006/main">
            <a:r>
              <a:t>• Investigation Router يحدد المجالات التي تحتاج تعمقًا بدل تشغيل Agent عام واحد.</a:t>
            </a:r>
          </a:p>
          <a:p xmlns:a="http://schemas.openxmlformats.org/drawingml/2006/main">
            <a:r>
              <a:t>• Specialists يعملون ضمن أدوات مسموحة وBudget وقراءة فقط.</a:t>
            </a:r>
          </a:p>
          <a:p xmlns:a="http://schemas.openxmlformats.org/drawingml/2006/main">
            <a:r>
              <a:t>• النتيجة ليست نصًا مقنعًا من LLM؛ بل Claims مرتبطة بـ Evidence IDs.</a:t>
            </a:r>
          </a:p>
          <a:p xmlns:a="http://schemas.openxmlformats.org/drawingml/2006/main">
            <a:r>
              <a:t>• اعرض أمثلة Evidence ثم اربطها بالـ Final Diagnosis.</a:t>
            </a:r>
          </a:p>
          <a:p xmlns:a="http://schemas.openxmlformats.org/drawingml/2006/main">
            <a:r>
              <a:t>• انتقل إلى كيفية تنفيذ هذه الضوابط برمجيًا وكيف استُخدم AI أثناء التطوير.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المحتوى مبني على موجز المشروع المقدم من الطالب؛ لا توجد مصادر خارجية أو أصول خارجية.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Time: 85 seconds</a:t>
            </a:r>
          </a:p>
          <a:p xmlns:a="http://schemas.openxmlformats.org/drawingml/2006/main">
            <a:r>
              <a:t>• ابدأ من تصميم المستخدم، ثم اطلب من AI خطة تنفيذ قابلة للمراجعة.</a:t>
            </a:r>
          </a:p>
          <a:p xmlns:a="http://schemas.openxmlformats.org/drawingml/2006/main">
            <a:r>
              <a:t>• المستخدم يراجع الخطة ويعدلها ويوافق عليها قبل تعديل الكود.</a:t>
            </a:r>
          </a:p>
          <a:p xmlns:a="http://schemas.openxmlformats.org/drawingml/2006/main">
            <a:r>
              <a:t>• عند ظهور خطأ، يُرسل Traceback إلى AI لتحليل السبب واقتراح خطة إصلاح جديدة.</a:t>
            </a:r>
          </a:p>
          <a:p xmlns:a="http://schemas.openxmlformats.org/drawingml/2006/main">
            <a:r>
              <a:t>• إذا رُفضت الخطة، يعيد AI البحث ويقترح بديلًا؛ القرار النهائي للمستخدم دائمًا.</a:t>
            </a:r>
          </a:p>
          <a:p xmlns:a="http://schemas.openxmlformats.org/drawingml/2006/main">
            <a:r>
              <a:t>• الاعتماد يتم بعد tests وacceptance evidence ومراجعة بشرية للتعديلات الحساسة.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المحتوى مبني على موجز المشروع المقدم من الطالب؛ لا توجد مصادر خارجية أو أصول خارجية.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Time: 75 seconds</a:t>
            </a:r>
          </a:p>
          <a:p xmlns:a="http://schemas.openxmlformats.org/drawingml/2006/main">
            <a:r>
              <a:t>• اعرض أن Unit وIntegration وSecurity تغطي العقود والتكامل والحدود الأمنية.</a:t>
            </a:r>
          </a:p>
          <a:p xmlns:a="http://schemas.openxmlformats.org/drawingml/2006/main">
            <a:r>
              <a:t>• أبرز أن Real Acceptance وManual Acceptance يثبتان السلوك العملي والواجهة.</a:t>
            </a:r>
          </a:p>
          <a:p xmlns:a="http://schemas.openxmlformats.org/drawingml/2006/main">
            <a:r>
              <a:t>• اختم بالرقم النهائي: 620 passed / 4 skipped / 0 failed.</a:t>
            </a:r>
          </a:p>
          <a:p xmlns:a="http://schemas.openxmlformats.org/drawingml/2006/main">
            <a:r>
              <a:t>• اذكر القيود الثلاثة باختصار بوصفها non-blocking أو Accepted Deviation.</a:t>
            </a:r>
          </a:p>
          <a:p xmlns:a="http://schemas.openxmlformats.org/drawingml/2006/main">
            <a:r>
              <a:t>• اختم بأن المشروع جاهز للتسليم والمناقشة، ثم أعلن بدء Demo المستقل.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المحتوى مبني على موجز المشروع المقدم من الطالب؛ لا توجد مصادر خارجية أو أصول خارجية.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cd9d347e4d49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3c0075af7a420e" /><Relationship Type="http://schemas.openxmlformats.org/officeDocument/2006/relationships/slideLayout" Target="/ppt/slideLayouts/slideLayout1.xml" Id="R3a3f70efe2f44e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3f70efe2f44e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2a7fa496b4b0f" /><Relationship Type="http://schemas.openxmlformats.org/officeDocument/2006/relationships/notesSlide" Target="/ppt/notesSlides/notesSlide1.xml" Id="R10078a1a35814e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1ade25af74666" /><Relationship Type="http://schemas.openxmlformats.org/officeDocument/2006/relationships/notesSlide" Target="/ppt/notesSlides/notesSlide2.xml" Id="R3a4eb6ae4b2043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1f46e2f9049b4" /><Relationship Type="http://schemas.openxmlformats.org/officeDocument/2006/relationships/notesSlide" Target="/ppt/notesSlides/notesSlide3.xml" Id="Rec24da5db15e4e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f65006c3b49a2" /><Relationship Type="http://schemas.openxmlformats.org/officeDocument/2006/relationships/notesSlide" Target="/ppt/notesSlides/notesSlide4.xml" Id="Ra870edb6f32b48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9d1fa6b994753" /><Relationship Type="http://schemas.openxmlformats.org/officeDocument/2006/relationships/notesSlide" Target="/ppt/notesSlides/notesSlide5.xml" Id="R6d9be772e77d49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85073a1d743d4" /><Relationship Type="http://schemas.openxmlformats.org/officeDocument/2006/relationships/notesSlide" Target="/ppt/notesSlides/notesSlide6.xml" Id="R79260dbfc47b4a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8da402bf14b04" /><Relationship Type="http://schemas.openxmlformats.org/officeDocument/2006/relationships/notesSlide" Target="/ppt/notesSlides/notesSlide7.xml" Id="Rda4c24fbc14f45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ea4dbc2c94577" /><Relationship Type="http://schemas.openxmlformats.org/officeDocument/2006/relationships/notesSlide" Target="/ppt/notesSlides/notesSlide8.xml" Id="R1c24dd7930e54d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25C54-BE71-471E-A6F8-D171D740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AF208-505B-4175-8A01-69F14C1D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781050"/>
            <a:ext cx="276225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CCA199-D603-44C6-BCBF-15CAB379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24050"/>
            <a:ext cx="1790700" cy="1790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C1D6C-D258-4E34-8B56-F594417B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381125"/>
            <a:ext cx="2000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SAFE</a:t>
            </a:r>
          </a:p>
          <a:p xmlns:a="http://schemas.openxmlformats.org/drawingml/2006/main">
            <a:pPr algn="ctr"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VPS</a:t>
            </a:r>
          </a:p>
          <a:p xmlns:a="http://schemas.openxmlformats.org/drawingml/2006/main">
            <a:pPr algn="ctr"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96D2DE-2FBC-45DE-85E7-70F41C2F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مناقشة مشروع السنة الرابعة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7368F-560A-478F-99D9-B8E08120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buNone/>
              <a:defRPr sz="3450" b="1" i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2263A"/>
                </a:solidFill>
                <a:latin typeface="Arial"/>
                <a:ea typeface="Arial"/>
                <a:cs typeface="Arial"/>
              </a:rPr>
              <a:t>نظام وكيل ذكاء صنعي</a:t>
            </a:r>
          </a:p>
          <a:p xmlns:a="http://schemas.openxmlformats.org/drawingml/2006/main">
            <a:pPr algn="r">
              <a:lnSpc>
                <a:spcPct val="90000"/>
              </a:lnSpc>
              <a:buNone/>
              <a:defRPr sz="3450" b="1" i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2263A"/>
                </a:solidFill>
                <a:latin typeface="Arial"/>
                <a:ea typeface="Arial"/>
                <a:cs typeface="Arial"/>
              </a:rPr>
              <a:t>آمن ومستقل لإدارة خوادم VPS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34A560-7F35-4242-8369-11D1DCC2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F6FED"/>
                </a:solidFill>
                <a:latin typeface="Arial"/>
                <a:ea typeface="Arial"/>
                <a:cs typeface="Arial"/>
              </a:rPr>
              <a:t>Safe Autonomous AI Agent for VPS Management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37629-B2F4-4B39-9A2F-7B6352B8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693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D77F56-40FC-407A-90FA-EF1E0EF1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7000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مراقبة خوادم VPS، تحليل المشاكل، اقتراح حلول، واختبار وتنفيذ المعالجات الآمنة ضمن سياسات واضحة.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FB1EB-2C1A-42FD-BF4F-3CB872FC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263A"/>
                </a:solidFill>
                <a:latin typeface="Arial"/>
                <a:ea typeface="Arial"/>
                <a:cs typeface="Arial"/>
              </a:rPr>
              <a:t>إعداد الطالب: سعيد بقدونس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03039A-71DD-45FE-B4D0-AE8FC25F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الاختصاص: هندسة برمجيات وذكاء صنعي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42B75F-09EB-4D9E-B98E-6C3FAE8A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676900"/>
            <a:ext cx="264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العام الدراسي: 2025–2026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0FC150-0E41-4F15-9B8B-3CDEECF6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المشرف والجامعة: غير مذكورين في موجز المشروع</a:t>
            </a:r>
          </a:p>
        </p:txBody>
      </p:sp>
    </p:spTree>
    <p:extLst>
      <p:ext uri="{BB962C8B-B14F-4D97-AF65-F5344CB8AC3E}">
        <p14:creationId xmlns:p14="http://schemas.microsoft.com/office/powerpoint/2010/main" val="16096740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DC4AB3-DCD5-490B-9CB3-90125361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السياق والدافع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11B7A-1EDA-4D3B-9120-898E5594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400" b="1" i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2263A"/>
                </a:solidFill>
                <a:latin typeface="Arial"/>
                <a:ea typeface="Arial"/>
                <a:cs typeface="Arial"/>
              </a:rPr>
              <a:t>المشكلة والمتطلبات الرئيسية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04A00-F130-40BE-B360-7954E7E9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7F560-9ED0-49F9-A075-9978DA9F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9599D-CE44-466A-A57A-3337D9AA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40080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Safe Autonomous AI Agent for VPS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8842E-1680-4B73-856A-ED72C308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00800"/>
            <a:ext cx="293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هندسة برمجيات وذكاء صنعي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AB983F-C82B-4CC4-BBE5-45A58B53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36957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إدارة VPS يدويًا</a:t>
            </a:r>
          </a:p>
          <a:p xmlns:a="http://schemas.openxmlformats.org/drawingml/2006/main">
            <a:pPr algn="r">
              <a:defRPr sz="18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تتطلب مراقبة مستمرة، قراءة سجلات، تحليل أعطال، وقرارات تنفيذ قد تكون حساسة أو خطرة.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66998-CA14-4BB6-971C-4667A52C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3811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4F2"/>
          </a:solidFill>
          <a:ln xmlns:a="http://schemas.openxmlformats.org/drawingml/2006/main" w="9525">
            <a:solidFill>
              <a:srgbClr val="DFF4F2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3717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الفكرة الأساسية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008C7-DBA2-40F8-9E9C-3B2FB342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3695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Agent ذكي يجمع الحالة وEvidence، يحللها، يختبر الحل، ثم يسمح بالتنفيذ الآمن فقط.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B840B7-217D-4044-B601-ECF1AB35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90650"/>
            <a:ext cx="655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263A"/>
                </a:solidFill>
                <a:latin typeface="Arial"/>
                <a:ea typeface="Arial"/>
                <a:cs typeface="Arial"/>
              </a:rPr>
              <a:t>المتطلبات الوظيفية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BC6282-05FB-4170-8918-0EB5B7A2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457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9525">
            <a:solidFill>
              <a:srgbClr val="E9F0FF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674805-0383-479A-AEE9-3FF87EEB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09750"/>
            <a:ext cx="5981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مراقبة الموارد والخدمات والسجلات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6256BF-11E8-4691-AED2-2F462931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76500"/>
            <a:ext cx="457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0EBFF"/>
          </a:solidFill>
          <a:ln xmlns:a="http://schemas.openxmlformats.org/drawingml/2006/main" w="9525">
            <a:solidFill>
              <a:srgbClr val="F0EBFF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D4BC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4BC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978AB6-F741-4BF3-AF1D-69A14662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76500"/>
            <a:ext cx="5981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تحليل الأخطاء وتصنيفها: normal / dangerous / sensitive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1BD348-0700-40B6-B1FF-EB41B34C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457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FFF1D6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56A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56A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D3EF0B-0F4D-48FD-8952-CBC6FB25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43250"/>
            <a:ext cx="5981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توليد حلول واختبارها داخل Sandbox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67049B-F005-4D49-92B3-3826FC4B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10000"/>
            <a:ext cx="457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FF4F2"/>
          </a:solidFill>
          <a:ln xmlns:a="http://schemas.openxmlformats.org/drawingml/2006/main" w="9525">
            <a:solidFill>
              <a:srgbClr val="DFF4F2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145D76-6E18-4FFB-9E18-9F592C76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10000"/>
            <a:ext cx="5981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Investigation وتحديد موقع الخطأ عند توفر Traceback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5B4DFD-48F4-40E4-AC42-67F4D3E7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76750"/>
            <a:ext cx="457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F6EE"/>
          </a:solidFill>
          <a:ln xmlns:a="http://schemas.openxmlformats.org/drawingml/2006/main" w="9525">
            <a:solidFill>
              <a:srgbClr val="E6F6EE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794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94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81BD69-4EEE-4B34-9C1C-F052DADE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76750"/>
            <a:ext cx="5981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تنفيذ آمن أو Human Approval مع Audit Trail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28ED14-DCEB-44CD-BB69-20C4B6F6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95900"/>
            <a:ext cx="6553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F1D7A4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56A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56A00"/>
                </a:solidFill>
                <a:latin typeface="Arial"/>
                <a:ea typeface="Arial"/>
                <a:cs typeface="Arial"/>
              </a:rPr>
              <a:t>Social Notification / Telegram = Accepted Project Deviation — Not Implemented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DD8C83-B158-4E21-AC37-AD60C9FA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655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الهدف: تقليل المخاطر مع الحفاظ على سرعة التشخيص والاستجابة.</a:t>
            </a:r>
          </a:p>
        </p:txBody>
      </p:sp>
    </p:spTree>
    <p:extLst>
      <p:ext uri="{BB962C8B-B14F-4D97-AF65-F5344CB8AC3E}">
        <p14:creationId xmlns:p14="http://schemas.microsoft.com/office/powerpoint/2010/main" val="8108800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0CD7E19-9CCA-4253-83CD-14D5C540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المعمارية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2E548-AAA3-4601-8F55-F7BC7FCB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 i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2263A"/>
                </a:solidFill>
                <a:latin typeface="Arial"/>
                <a:ea typeface="Arial"/>
                <a:cs typeface="Arial"/>
              </a:rPr>
              <a:t>المعمارية العامة وتدفق العمل بين مكونات النظام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CBA456-0450-4254-A722-D193FC72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89C373-0FE4-4980-AA00-3C75E1E4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98A98-34C2-4612-B644-87BA77C9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40080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Safe Autonomous AI Agent for VPS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A9BF65-8C4E-4C0A-8E11-BAA4CF0C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00800"/>
            <a:ext cx="293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هندسة برمجيات وذكاء صنعي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4A6FD7-D390-46EA-90DB-F9925458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الفصل الحاسم: Claude يحدد WHAT / NEXT — Python يحدد WHETHER ALLOWED / HOW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3B11DF-3040-44D3-933C-2A4A1CFF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20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DE9E8"/>
          </a:solidFill>
          <a:ln xmlns:a="http://schemas.openxmlformats.org/drawingml/2006/main" w="9525">
            <a:solidFill>
              <a:srgbClr val="F0C6C5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63D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63D40"/>
                </a:solidFill>
                <a:latin typeface="Arial"/>
                <a:ea typeface="Arial"/>
                <a:cs typeface="Arial"/>
              </a:rPr>
              <a:t>قواعد وسياسات</a:t>
            </a:r>
          </a:p>
          <a:p xmlns:a="http://schemas.openxmlformats.org/drawingml/2006/main">
            <a:pPr algn="ctr">
              <a:defRPr sz="1125" b="1">
                <a:solidFill>
                  <a:srgbClr val="A63D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63D40"/>
                </a:solidFill>
                <a:latin typeface="Arial"/>
                <a:ea typeface="Arial"/>
                <a:cs typeface="Arial"/>
              </a:rPr>
              <a:t>Core Contracts • Policies • RBAC / Auth • Validation • Fail-Closed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068BCC-B666-4CF9-A6E7-BC08C613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9525">
            <a:solidFill>
              <a:srgbClr val="C7D7FA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98094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F6FED"/>
                </a:solidFill>
                <a:latin typeface="Arial"/>
                <a:ea typeface="Arial"/>
                <a:cs typeface="Arial"/>
              </a:rPr>
              <a:t>بنية تحتية وحفظ</a:t>
            </a:r>
          </a:p>
          <a:p xmlns:a="http://schemas.openxmlformats.org/drawingml/2006/main">
            <a:pPr algn="ctr">
              <a:defRPr sz="1125" b="0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F6FED"/>
                </a:solidFill>
                <a:latin typeface="Arial"/>
                <a:ea typeface="Arial"/>
                <a:cs typeface="Arial"/>
              </a:rPr>
              <a:t>PostgreSQL • pgvector • SSH • Ollama • VPS targets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F7DF9B-A2B8-4CDD-B3D2-82711885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FF4F2"/>
          </a:solidFill>
          <a:ln xmlns:a="http://schemas.openxmlformats.org/drawingml/2006/main" w="9525">
            <a:solidFill>
              <a:srgbClr val="B7E5E2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قدرات المجال</a:t>
            </a:r>
          </a:p>
          <a:p xmlns:a="http://schemas.openxmlformats.org/drawingml/2006/main">
            <a:pPr algn="ctr">
              <a:defRPr sz="11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Monitoring • Analysis • Knowledge / Retrieval • Investigation • Specialists • Evidence / Diagnosis • Remediation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F17481-A0D3-4428-96FC-6B0F6056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23837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38E954-DFB5-47EB-97B3-1A9B9364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1907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E40400-7428-4FAB-B956-6194DFD0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3837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F1FC18-C783-4F7D-A048-9AC251C3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907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D0EB55-4CA6-40E7-9708-4244AE9B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3837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C678F1-14DD-464E-A9BF-5427949C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907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4DDB20-3AD8-4CDA-9387-66CEF4DC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3837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E8C002-CF25-4C89-93DE-1530461E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907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5A15E2-298D-4E16-A841-88C9446D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3837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505195-F953-4AC6-B34D-82609379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907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C9AB4A-15B4-47B0-BC87-201E3BFC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3837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25B606-81E0-485A-977C-36CFC127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907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F93128-FA8B-48B5-B8AB-DD90F016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2001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Monitoring</a:t>
            </a:r>
          </a:p>
          <a:p xmlns:a="http://schemas.openxmlformats.org/drawingml/2006/main">
            <a:pPr algn="ctr">
              <a:defRPr sz="11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Scheduler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F8AD04-1EDA-4BBD-AB51-6F2F156A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962150"/>
            <a:ext cx="12001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0EB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D4BC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4BC1"/>
                </a:solidFill>
                <a:latin typeface="Arial"/>
                <a:ea typeface="Arial"/>
                <a:cs typeface="Arial"/>
              </a:rPr>
              <a:t>Claude</a:t>
            </a:r>
          </a:p>
          <a:p xmlns:a="http://schemas.openxmlformats.org/drawingml/2006/main">
            <a:pPr algn="ctr">
              <a:defRPr sz="1125" b="1">
                <a:solidFill>
                  <a:srgbClr val="6D4BC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4BC1"/>
                </a:solidFill>
                <a:latin typeface="Arial"/>
                <a:ea typeface="Arial"/>
                <a:cs typeface="Arial"/>
              </a:rPr>
              <a:t>Supervisor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90A708-8E61-41DB-BF73-F9CB6F32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62150"/>
            <a:ext cx="12001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MCP</a:t>
            </a:r>
          </a:p>
          <a:p xmlns:a="http://schemas.openxmlformats.org/drawingml/2006/main">
            <a:pPr algn="ctr">
              <a:defRPr sz="11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Boundary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44E662-3B1B-49E3-A897-963F2960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62150"/>
            <a:ext cx="1314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Monitoring</a:t>
            </a:r>
          </a:p>
          <a:p xmlns:a="http://schemas.openxmlformats.org/drawingml/2006/main">
            <a:pPr algn="ctr">
              <a:defRPr sz="11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Capability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328527-7125-4E73-B02A-6AA7EDA2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6215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Report →</a:t>
            </a:r>
          </a:p>
          <a:p xmlns:a="http://schemas.openxmlformats.org/drawingml/2006/main">
            <a:pPr algn="ctr">
              <a:defRPr sz="11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F88F33-ABE9-46B2-B2B9-536BBF0D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62150"/>
            <a:ext cx="13525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Retrieval →</a:t>
            </a:r>
          </a:p>
          <a:p xmlns:a="http://schemas.openxmlformats.org/drawingml/2006/main">
            <a:pPr algn="ctr">
              <a:defRPr sz="11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Investigation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2D6CF9-BD5E-4446-A7F9-23E8C9D9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62150"/>
            <a:ext cx="13525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Evidence →</a:t>
            </a:r>
          </a:p>
          <a:p xmlns:a="http://schemas.openxmlformats.org/drawingml/2006/main">
            <a:pPr algn="ctr">
              <a:defRPr sz="11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Diagnosis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2EE87E-6DD3-47C7-B661-CA6CA1EC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289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يبدأ الدورة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573453-869D-4D9F-B77B-669F9121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6289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ينسق الخطوات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F0794A-3A53-4425-8D84-0086E2E7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6289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يطلب Capability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72F4CA-5AAB-4C34-B870-83D51E8A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6289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يجمع الحالة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F500C0-85A1-4E27-BA41-4577EFF5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6289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يحفظ ويحلل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2C994C-2379-42F8-85FC-D5D507EA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289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يعمق التحقيق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2B386D-85BB-4A5A-AE2F-04A629A0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24200"/>
            <a:ext cx="1428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F1D7A4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9915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56A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56A00"/>
                </a:solidFill>
                <a:latin typeface="Arial"/>
                <a:ea typeface="Arial"/>
                <a:cs typeface="Arial"/>
              </a:rPr>
              <a:t>Remediation Plan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F89F55-0CD7-445E-9CA8-A3A8A79F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24200"/>
            <a:ext cx="1428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F1D7A4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9001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56A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56A00"/>
                </a:solidFill>
                <a:latin typeface="Arial"/>
                <a:ea typeface="Arial"/>
                <a:cs typeface="Arial"/>
              </a:rPr>
              <a:t>Sandbox Validation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5E4F95-52D2-45AA-8BD9-2D1452FD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24200"/>
            <a:ext cx="1428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DE9E8"/>
          </a:solidFill>
          <a:ln xmlns:a="http://schemas.openxmlformats.org/drawingml/2006/main" w="9525">
            <a:solidFill>
              <a:srgbClr val="F0C6C5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63D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63D40"/>
                </a:solidFill>
                <a:latin typeface="Arial"/>
                <a:ea typeface="Arial"/>
                <a:cs typeface="Arial"/>
              </a:rPr>
              <a:t>Policy Decision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C77D00-EEF7-4334-B24E-F6F390E6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24200"/>
            <a:ext cx="1428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F6EE"/>
          </a:solidFill>
          <a:ln xmlns:a="http://schemas.openxmlformats.org/drawingml/2006/main" w="9525">
            <a:solidFill>
              <a:srgbClr val="BFE8D4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6476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794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94F"/>
                </a:solidFill>
                <a:latin typeface="Arial"/>
                <a:ea typeface="Arial"/>
                <a:cs typeface="Arial"/>
              </a:rPr>
              <a:t>Controlled</a:t>
            </a:r>
          </a:p>
          <a:p xmlns:a="http://schemas.openxmlformats.org/drawingml/2006/main">
            <a:pPr algn="ctr">
              <a:defRPr sz="1125" b="1">
                <a:solidFill>
                  <a:srgbClr val="16794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94F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C6E506-BBCF-4D34-9CCC-BC6007E8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124200"/>
            <a:ext cx="1428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9525">
            <a:solidFill>
              <a:srgbClr val="C7D7FA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8821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Verification → Audit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FE4531-8AF7-43A9-AAE1-3CFD47F2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2422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687391-A48C-4A56-94F1-572E4E17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766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8F95DD-C09D-487B-A725-AB464166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2422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E49227-C9F8-49F2-BFE6-5C9EA612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2766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44324AA-7045-461A-AD07-5E57826B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2422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94DC8E-6A57-400C-AF70-70354379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766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5DD2837-3C74-44CE-825E-79372ACD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2422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C1A5A5-92E6-4DDA-B10E-FC59F362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2766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F4A6F7-1136-49AF-8A87-342C2516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385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16794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6794F"/>
                </a:solidFill>
                <a:latin typeface="Arial"/>
                <a:ea typeface="Arial"/>
                <a:cs typeface="Arial"/>
              </a:rPr>
              <a:t>Auto Execute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E91E373-CD3F-4BE1-9B5D-E3A80219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385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B56A0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56A00"/>
                </a:solidFill>
                <a:latin typeface="Arial"/>
                <a:ea typeface="Arial"/>
                <a:cs typeface="Arial"/>
              </a:rPr>
              <a:t>Human Approval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CA84DE3-F521-49FA-9A70-02F4AEDF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385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A63D4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63D40"/>
                </a:solidFill>
                <a:latin typeface="Arial"/>
                <a:ea typeface="Arial"/>
                <a:cs typeface="Arial"/>
              </a:rPr>
              <a:t>Deny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9C4FB28-DE0F-4956-A395-49C5E5D4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21717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0EBFF"/>
          </a:solidFill>
          <a:ln xmlns:a="http://schemas.openxmlformats.org/drawingml/2006/main" w="9525">
            <a:solidFill>
              <a:srgbClr val="D8C9FF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7533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D4BC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D4BC1"/>
                </a:solidFill>
                <a:latin typeface="Arial"/>
                <a:ea typeface="Arial"/>
                <a:cs typeface="Arial"/>
              </a:rPr>
              <a:t>Monitoring Scheduler</a:t>
            </a:r>
          </a:p>
          <a:p xmlns:a="http://schemas.openxmlformats.org/drawingml/2006/main">
            <a:pPr algn="ctr">
              <a:defRPr sz="1050" b="1">
                <a:solidFill>
                  <a:srgbClr val="6D4BC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D4BC1"/>
                </a:solidFill>
                <a:latin typeface="Arial"/>
                <a:ea typeface="Arial"/>
                <a:cs typeface="Arial"/>
              </a:rPr>
              <a:t>Claude Supervisor / Runtime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F9218BA-CFBE-4BF1-A817-5DB6CB97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381125"/>
            <a:ext cx="22288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9525">
            <a:solidFill>
              <a:srgbClr val="C7D7FA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7533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MCP Boundary</a:t>
            </a:r>
          </a:p>
          <a:p xmlns:a="http://schemas.openxmlformats.org/drawingml/2006/main">
            <a:pPr algn="ctr">
              <a:defRPr sz="10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Admin UI / Web API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86F527C-AFA7-41B3-BAF1-E82F7576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81425"/>
            <a:ext cx="464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F6FED"/>
                </a:solidFill>
                <a:latin typeface="Arial"/>
                <a:ea typeface="Arial"/>
                <a:cs typeface="Arial"/>
              </a:rPr>
              <a:t>Admin UI ← Reports / Evidence / Decisions / Audit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DF20714-12EA-4CA4-933B-501BF8F7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581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63D4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63D40"/>
                </a:solidFill>
                <a:latin typeface="Arial"/>
                <a:ea typeface="Arial"/>
                <a:cs typeface="Arial"/>
              </a:rPr>
              <a:t>لا SSH مباشر • لا Shell حر • لا SQL مباشر • لا تجاوز لطبقة الأمان</a:t>
            </a:r>
          </a:p>
        </p:txBody>
      </p:sp>
    </p:spTree>
    <p:extLst>
      <p:ext uri="{BB962C8B-B14F-4D97-AF65-F5344CB8AC3E}">
        <p14:creationId xmlns:p14="http://schemas.microsoft.com/office/powerpoint/2010/main" val="3777425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AB814E-F12D-4D5B-90D4-F0013E8D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التصميم الداخلي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B7C47-A5E7-486E-97DE-34EE8511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400" b="1" i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2263A"/>
                </a:solidFill>
                <a:latin typeface="Arial"/>
                <a:ea typeface="Arial"/>
                <a:cs typeface="Arial"/>
              </a:rPr>
              <a:t>المعماريات ومنهجيات التصميم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15F4B-CAB8-4455-9259-DA6CEA8E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733A07-8F13-484B-AA8B-B370255F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352BD-5944-4DDE-A7FD-02B43A0D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40080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Safe Autonomous AI Agent for VPS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B580D-75D5-469C-82FF-F52C7C1D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00800"/>
            <a:ext cx="293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هندسة برمجيات وذكاء صنعي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CD926-29B6-4128-968D-43B56F7E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Layered modular architecture with explicit composition and infrastructure boundaries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CD286C-6A9D-486B-A507-A4BD1C4D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فصل منطق المجال عن الواجهات والبنية التحتية يجعل التغيير والاختبار أكثر أمانًا.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73729B-5930-4EE6-922B-30262CE2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714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9525">
            <a:solidFill>
              <a:srgbClr val="E9F0FF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Interfaces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CE91E2-199B-4AEC-A828-E633F1FE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47875"/>
            <a:ext cx="4000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Admin UI • Web API • MCP 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75086-7FB0-4461-A75C-6B52486C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1275"/>
            <a:ext cx="1714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0EBFF"/>
          </a:solidFill>
          <a:ln xmlns:a="http://schemas.openxmlformats.org/drawingml/2006/main" w="9525">
            <a:solidFill>
              <a:srgbClr val="F0EBFF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D4BC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4BC1"/>
                </a:solidFill>
                <a:latin typeface="Arial"/>
                <a:ea typeface="Arial"/>
                <a:cs typeface="Arial"/>
              </a:rPr>
              <a:t>Runtime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9F71EC-7344-44D3-BDDE-B12DA610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81275"/>
            <a:ext cx="4000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Claude Supervisor • Monitoring Scheduler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C8048F-A946-4E0F-A574-EF917DC1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1714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FF4F2"/>
          </a:solidFill>
          <a:ln xmlns:a="http://schemas.openxmlformats.org/drawingml/2006/main" w="9525">
            <a:solidFill>
              <a:srgbClr val="DFF4F2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Capabilities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3E05EE-6015-4207-AE9D-A005FD79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14675"/>
            <a:ext cx="4000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Monitoring • Investigation • Remediation •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9434A6-A7FB-445C-8360-6DECA9B2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1714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FFF1D6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56A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56A00"/>
                </a:solidFill>
                <a:latin typeface="Arial"/>
                <a:ea typeface="Arial"/>
                <a:cs typeface="Arial"/>
              </a:rPr>
              <a:t>Core / Domain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19FE6A-D7CD-4210-815B-7D5703A7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48075"/>
            <a:ext cx="4000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Contracts • Policies • Classification • Authorization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244E9B-3D27-4F9D-986E-7654BBD1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1714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F6EE"/>
          </a:solidFill>
          <a:ln xmlns:a="http://schemas.openxmlformats.org/drawingml/2006/main" w="9525">
            <a:solidFill>
              <a:srgbClr val="E6F6EE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794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794F"/>
                </a:solidFill>
                <a:latin typeface="Arial"/>
                <a:ea typeface="Arial"/>
                <a:cs typeface="Arial"/>
              </a:rPr>
              <a:t>Infrastructure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832C8E-A1DF-4ED0-B452-414C8EF6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81475"/>
            <a:ext cx="4000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PostgreSQL • Ollama • SSH adapters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1A5957-133F-48BE-95CD-FC60DB12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Composition Root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BA8010-57A3-49F6-9CAA-DE5CC03E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387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app/composition يربط الاعتماديات مركزيًا لتسهيل الاختبار والاستبدال.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C5CF2A-8E8C-4EA5-9051-036245B5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81200"/>
            <a:ext cx="426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0909"/>
          </a:bodyPr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263A"/>
                </a:solidFill>
                <a:latin typeface="Arial"/>
                <a:ea typeface="Arial"/>
                <a:cs typeface="Arial"/>
              </a:rPr>
              <a:t>أنماط ومنهجيات مستخدمة فعليًا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86EA3B-F363-4E56-8FBA-F0E37851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180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9525">
            <a:solidFill>
              <a:srgbClr val="E9F0FF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Repository Pattern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E2F327-33E8-4A75-8DAF-D5D736A2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81250"/>
            <a:ext cx="23050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Service → Repository → PostgreSQL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A15D32-038A-48F1-BDF4-AFA0DA73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86100"/>
            <a:ext cx="180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FF4F2"/>
          </a:solidFill>
          <a:ln xmlns:a="http://schemas.openxmlformats.org/drawingml/2006/main" w="9525">
            <a:solidFill>
              <a:srgbClr val="DFF4F2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Service Layer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1F5D07-A1EF-4A55-A42F-B7BE13DD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86100"/>
            <a:ext cx="23050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قواعد العمل داخل Monitoring / Investigation / Remediation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4841D3-BA98-4654-8B84-C5A4C6F2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90950"/>
            <a:ext cx="180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0EBFF"/>
          </a:solidFill>
          <a:ln xmlns:a="http://schemas.openxmlformats.org/drawingml/2006/main" w="9525">
            <a:solidFill>
              <a:srgbClr val="F0EBFF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D4BC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4BC1"/>
                </a:solidFill>
                <a:latin typeface="Arial"/>
                <a:ea typeface="Arial"/>
                <a:cs typeface="Arial"/>
              </a:rPr>
              <a:t>Adapter + Builder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53D6D6-55F3-419C-97A9-D395A524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790950"/>
            <a:ext cx="23050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عزل Claude / Ollama / SSH وبناء الأمر المقيد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D96217-61F4-4669-94E7-6FCAC902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95800"/>
            <a:ext cx="180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DE9E8"/>
          </a:solidFill>
          <a:ln xmlns:a="http://schemas.openxmlformats.org/drawingml/2006/main" w="9525">
            <a:solidFill>
              <a:srgbClr val="FDE9E8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9809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63D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63D40"/>
                </a:solidFill>
                <a:latin typeface="Arial"/>
                <a:ea typeface="Arial"/>
                <a:cs typeface="Arial"/>
              </a:rPr>
              <a:t>Policy-driven + Fail-Closed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72DBC4-4186-4463-8A47-D91BF34B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95800"/>
            <a:ext cx="23050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Evidence أو Sandbox أو Authorization غير كافية → DENY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862E76-5ED1-41B6-BADB-864C0264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91150"/>
            <a:ext cx="4267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النتيجة: حدود واضحة + اعتماديات قابلة للاستبدال + قرار تنفيذ محافظ</a:t>
            </a:r>
          </a:p>
        </p:txBody>
      </p:sp>
    </p:spTree>
    <p:extLst>
      <p:ext uri="{BB962C8B-B14F-4D97-AF65-F5344CB8AC3E}">
        <p14:creationId xmlns:p14="http://schemas.microsoft.com/office/powerpoint/2010/main" val="2394932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B7D3A7-DC7E-46E1-9A6E-5C022AA4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التحليل الذكي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B6E6B-738A-4217-9663-92F38B25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400" b="1" i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2263A"/>
                </a:solidFill>
                <a:latin typeface="Arial"/>
                <a:ea typeface="Arial"/>
                <a:cs typeface="Arial"/>
              </a:rPr>
              <a:t>منهجية البحث والاسترجاع والتحليل الذكي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078E6-90ED-44A3-AFBC-F754B69E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C09F4-DB2A-4327-868D-8311018B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86909-E18D-4A07-915E-86E2371C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40080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Safe Autonomous AI Agent for VPS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E0D84-7D7D-4A32-98E6-ABE46EC0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00800"/>
            <a:ext cx="293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هندسة برمجيات وذكاء صنعي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4D029-F104-4E44-B650-58602ECA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لا يبدأ استدعاء النموذج من الصفر: يبدأ من إعادة استخدام الأدلة الأكثر صلة.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7A51A-A96D-46C8-A817-A0FD49B7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266950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AC5D9F-F180-47B6-A152-D610D7DC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219325"/>
            <a:ext cx="85725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FE6F52-454C-4E64-B993-5F654E25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66950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8B96FC-19AE-46E7-89AB-5556529F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19325"/>
            <a:ext cx="85725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976E9E-CD8F-428A-8122-8C797937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66950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EDBA60-A698-48EF-BE73-7A35B567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19325"/>
            <a:ext cx="85725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7987AA-A559-4E65-8D30-56D66FF1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66950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34C1D8-7196-4477-B0EB-CD531280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19325"/>
            <a:ext cx="85725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59A500-5910-4F0F-9091-B8058509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0BA78F-A9B0-421F-95B6-06D61C53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19325"/>
            <a:ext cx="85725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529F66-F27B-4759-895B-58407F25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66950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1924F9-2D02-46B7-BD5F-6266045E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19325"/>
            <a:ext cx="85725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D5FF09-4224-400B-A3A7-3CE07043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66950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C92683-4ACD-4E34-AFD0-3F59B63B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219325"/>
            <a:ext cx="85725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CCE1BD-9DC9-4577-963C-EB5D4475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219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Current</a:t>
            </a:r>
          </a:p>
          <a:p xmlns:a="http://schemas.openxmlformats.org/drawingml/2006/main">
            <a:pPr algn="ctr">
              <a:defRPr sz="11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5E09A7-DC02-4A24-AA2D-9C04C9D3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981200"/>
            <a:ext cx="1219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9525">
            <a:solidFill>
              <a:srgbClr val="E9F0FF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Exact</a:t>
            </a:r>
          </a:p>
          <a:p xmlns:a="http://schemas.openxmlformats.org/drawingml/2006/main">
            <a:pPr algn="ctr">
              <a:defRPr sz="1125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Reuse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30D006-B386-4750-93DC-8FBE7DCD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81200"/>
            <a:ext cx="1219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9525">
            <a:solidFill>
              <a:srgbClr val="E9F0FF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Structured</a:t>
            </a:r>
          </a:p>
          <a:p xmlns:a="http://schemas.openxmlformats.org/drawingml/2006/main">
            <a:pPr algn="ctr">
              <a:defRPr sz="1125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Compatibility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8A1904-0805-4209-992E-4C160400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81200"/>
            <a:ext cx="1219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0EBFF"/>
          </a:solidFill>
          <a:ln xmlns:a="http://schemas.openxmlformats.org/drawingml/2006/main" w="9525">
            <a:solidFill>
              <a:srgbClr val="F0EBFF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D4BC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4BC1"/>
                </a:solidFill>
                <a:latin typeface="Arial"/>
                <a:ea typeface="Arial"/>
                <a:cs typeface="Arial"/>
              </a:rPr>
              <a:t>Vector +</a:t>
            </a:r>
          </a:p>
          <a:p xmlns:a="http://schemas.openxmlformats.org/drawingml/2006/main">
            <a:pPr algn="ctr">
              <a:defRPr sz="1125" b="1">
                <a:solidFill>
                  <a:srgbClr val="6D4BC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D4BC1"/>
                </a:solidFill>
                <a:latin typeface="Arial"/>
                <a:ea typeface="Arial"/>
                <a:cs typeface="Arial"/>
              </a:rPr>
              <a:t>Full-Text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6DC746-D246-4342-B9F6-8F65D3F3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81200"/>
            <a:ext cx="1219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FF4F2"/>
          </a:solidFill>
          <a:ln xmlns:a="http://schemas.openxmlformats.org/drawingml/2006/main" w="9525">
            <a:solidFill>
              <a:srgbClr val="DFF4F2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Hybrid</a:t>
            </a:r>
          </a:p>
          <a:p xmlns:a="http://schemas.openxmlformats.org/drawingml/2006/main">
            <a:pPr algn="ctr">
              <a:defRPr sz="11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43984C-CF18-42B1-AC08-916E47A6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81200"/>
            <a:ext cx="1219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FF4F2"/>
          </a:solidFill>
          <a:ln xmlns:a="http://schemas.openxmlformats.org/drawingml/2006/main" w="9525">
            <a:solidFill>
              <a:srgbClr val="DFF4F2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RRF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47AC2C-348E-4964-9E5F-75403BB3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81200"/>
            <a:ext cx="1219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FFF1D6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56A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56A00"/>
                </a:solidFill>
                <a:latin typeface="Arial"/>
                <a:ea typeface="Arial"/>
                <a:cs typeface="Arial"/>
              </a:rPr>
              <a:t>Top-K</a:t>
            </a:r>
          </a:p>
          <a:p xmlns:a="http://schemas.openxmlformats.org/drawingml/2006/main">
            <a:pPr algn="ctr">
              <a:defRPr sz="1125" b="1">
                <a:solidFill>
                  <a:srgbClr val="B56A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56A00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C73A09-D203-4EDD-BB59-4BD421E7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81200"/>
            <a:ext cx="1219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LLM</a:t>
            </a:r>
          </a:p>
          <a:p xmlns:a="http://schemas.openxmlformats.org/drawingml/2006/main">
            <a:pPr algn="ctr">
              <a:defRPr sz="11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1AFFF1-A287-4019-B9C4-4A1CEF23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3333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4F2"/>
          </a:solidFill>
          <a:ln xmlns:a="http://schemas.openxmlformats.org/drawingml/2006/main" w="9525">
            <a:solidFill>
              <a:srgbClr val="DFF4F2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3717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Retrieval-Augmented Generation — RAG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75EF88-48D4-4514-856F-092B155E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95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الاسترجاع المعزز بالتوليد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10E837-407D-4136-86AB-8E3E0465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7907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Exact Reuse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C2D3C3-BB23-42A6-BBC8-4EBEF2AF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486150"/>
            <a:ext cx="3524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تقرير مطابق قبل استدعاء النموذج.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3781F0-0840-4483-B239-7201998A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86150"/>
            <a:ext cx="17907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Semantic Search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60E05D-B72C-43F2-9062-D3D0EAEB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86150"/>
            <a:ext cx="3524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Embeddings + pgvector للعثور على التشابه الدلالي.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57A3E3-901B-4829-9D54-E6CC1819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7907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Full-Text Search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6DC639-4CFD-4896-A2E6-DF2CA2DE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62450"/>
            <a:ext cx="3524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مصطلحات وسجلات مرتبطة بالنص.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9CDA9B-E41A-41E3-BDE5-820D8C47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62450"/>
            <a:ext cx="17907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F1D7A4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56A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56A00"/>
                </a:solidFill>
                <a:latin typeface="Arial"/>
                <a:ea typeface="Arial"/>
                <a:cs typeface="Arial"/>
              </a:rPr>
              <a:t>RRF + Threshold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7CB7A2-8BE9-4942-961A-76C4DD28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62450"/>
            <a:ext cx="3524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دمج الترتيب، ثم تمرير Top-K فقط إذا تجاوز التشابه حدًا مناسبًا.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35783A-B4E5-4386-B5AD-1FF0CFD0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الهدف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تقليل Hallucination والضجيج في Context، وتحسين جودة التحليل بالاستفادة من الحوادث السابقة.</a:t>
            </a:r>
          </a:p>
        </p:txBody>
      </p:sp>
    </p:spTree>
    <p:extLst>
      <p:ext uri="{BB962C8B-B14F-4D97-AF65-F5344CB8AC3E}">
        <p14:creationId xmlns:p14="http://schemas.microsoft.com/office/powerpoint/2010/main" val="18565114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BB028E-7B62-4AF3-8AA9-6DD84817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التشخيص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B155E-947D-4197-9802-055DB32D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400" b="1" i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2263A"/>
                </a:solidFill>
                <a:latin typeface="Arial"/>
                <a:ea typeface="Arial"/>
                <a:cs typeface="Arial"/>
              </a:rPr>
              <a:t>التحقيق الذكي والوكلاء المتخصصون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2DDD2-50BD-4BF0-AA59-1B95E570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1A4DD-B6FF-4821-A621-802991BF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3C556-A8EE-46B0-B401-34D37F47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40080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Safe Autonomous AI Agent for VPS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CB3E3-B804-42B0-9975-0E021357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00800"/>
            <a:ext cx="293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هندسة برمجيات وذكاء صنعي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1DA8B-2431-4C1F-8818-97AE115A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Evidence → Claims → Correlation → Final Diagnosis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55FBE6-0CD5-4F51-A6D1-09C4205E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479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FDCC7E-3E30-491E-9BB3-4C4BD7F1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002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9D465-1B0B-4EA5-B326-4538C031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479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458591-0912-47E1-9C74-A279FFF0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002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64BF67-E71C-4769-A6CB-7809C5B1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479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9DB85A-80F3-4622-90C5-2A5CE111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2002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BE01E3-CA11-43D9-A1E1-E9966C3F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479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FC185B-F8F8-420D-B932-AFF1E95C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002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690801-FA97-4910-8F4B-F5BF2395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479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F60042-A724-4BD2-AA8E-41B17351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002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36394A-2106-479E-A8FA-AC59F11E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352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60061B-48DF-447F-A3AC-019BDE5F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43100"/>
            <a:ext cx="1352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EBFF"/>
          </a:solidFill>
          <a:ln xmlns:a="http://schemas.openxmlformats.org/drawingml/2006/main" w="9525">
            <a:solidFill>
              <a:srgbClr val="F0EBFF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D4BC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4BC1"/>
                </a:solidFill>
                <a:latin typeface="Arial"/>
                <a:ea typeface="Arial"/>
                <a:cs typeface="Arial"/>
              </a:rPr>
              <a:t>Investigation</a:t>
            </a:r>
          </a:p>
          <a:p xmlns:a="http://schemas.openxmlformats.org/drawingml/2006/main">
            <a:pPr algn="ctr">
              <a:defRPr sz="1200" b="1">
                <a:solidFill>
                  <a:srgbClr val="6D4BC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4BC1"/>
                </a:solidFill>
                <a:latin typeface="Arial"/>
                <a:ea typeface="Arial"/>
                <a:cs typeface="Arial"/>
              </a:rPr>
              <a:t>Router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FAEC84-454E-4F29-97E1-81B24112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943100"/>
            <a:ext cx="1352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FF4F2"/>
          </a:solidFill>
          <a:ln xmlns:a="http://schemas.openxmlformats.org/drawingml/2006/main" w="9525">
            <a:solidFill>
              <a:srgbClr val="DFF4F2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Selected</a:t>
            </a:r>
          </a:p>
          <a:p xmlns:a="http://schemas.openxmlformats.org/drawingml/2006/main">
            <a:pPr algn="ctr">
              <a:defRPr sz="12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Specialists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E77481-7740-4899-903A-D911B835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943100"/>
            <a:ext cx="1352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9525">
            <a:solidFill>
              <a:srgbClr val="E9F0FF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Read-only</a:t>
            </a:r>
          </a:p>
          <a:p xmlns:a="http://schemas.openxmlformats.org/drawingml/2006/main">
            <a:pPr algn="ctr">
              <a:defRPr sz="120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Tools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31E31D-3BBB-4ADD-9990-B4730FE9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43100"/>
            <a:ext cx="1352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FFF1D6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56A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56A00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A628CF-710F-46BB-9EDF-F276F139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43100"/>
            <a:ext cx="1352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6F6EE"/>
          </a:solidFill>
          <a:ln xmlns:a="http://schemas.openxmlformats.org/drawingml/2006/main" w="9525">
            <a:solidFill>
              <a:srgbClr val="E6F6EE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794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794F"/>
                </a:solidFill>
                <a:latin typeface="Arial"/>
                <a:ea typeface="Arial"/>
                <a:cs typeface="Arial"/>
              </a:rPr>
              <a:t>Claims +</a:t>
            </a:r>
          </a:p>
          <a:p xmlns:a="http://schemas.openxmlformats.org/drawingml/2006/main">
            <a:pPr algn="ctr">
              <a:defRPr sz="1200" b="1">
                <a:solidFill>
                  <a:srgbClr val="16794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794F"/>
                </a:solidFill>
                <a:latin typeface="Arial"/>
                <a:ea typeface="Arial"/>
                <a:cs typeface="Arial"/>
              </a:rPr>
              <a:t>Correlation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6FFDB3-F127-4B48-A04C-6BF3E9CA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43100"/>
            <a:ext cx="1314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 Diagnosis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2BD8CF-5AB7-4FB5-A2C1-73A0FB2F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247900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31E66A-1897-4176-86A7-364C4CC6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2002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03CFFC-FB18-40A8-9930-7B536AF8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2381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0EBFF"/>
          </a:solidFill>
          <a:ln xmlns:a="http://schemas.openxmlformats.org/drawingml/2006/main" w="9525">
            <a:solidFill>
              <a:srgbClr val="D8C9FF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D4BC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D4BC1"/>
                </a:solidFill>
                <a:latin typeface="Arial"/>
                <a:ea typeface="Arial"/>
                <a:cs typeface="Arial"/>
              </a:rPr>
              <a:t>Specialist Definitions = 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5E1C37-8F07-4FF1-AB7F-71B16C54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861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8039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أمثلة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B132A9-CF34-4A77-9745-4D112103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3717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systemd-service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1321BC-83A1-4674-A6AB-0D95A43D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67050"/>
            <a:ext cx="990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3717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docker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5FEDA5-41A7-432C-92C5-53B84479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670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3717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linux-network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F8FFFD-02DC-4493-B9F6-2005E197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28950"/>
            <a:ext cx="2647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كل Specialist يملك allowed_tool_ids، يعمل ضمن Budget، ويستخدم أدوات Read-only فقط.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36D941-8D50-4A6A-B0CA-DF5FFDD0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575" b="1" i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2263A"/>
                </a:solidFill>
                <a:latin typeface="Arial"/>
                <a:ea typeface="Arial"/>
                <a:cs typeface="Arial"/>
              </a:rPr>
              <a:t>أمثلة Evidence المملوكة للمشروع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679C66-E1C1-49D8-870B-0302894C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Service status</a:t>
            </a:r>
          </a:p>
          <a:p xmlns:a="http://schemas.openxmlformats.org/drawingml/2006/main">
            <a:pPr algn="ctr">
              <a:defRPr sz="12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حالة الخدمة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23EAE6-12A9-4A14-A535-ACEACDC2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0055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Logs</a:t>
            </a:r>
          </a:p>
          <a:p xmlns:a="http://schemas.openxmlformats.org/drawingml/2006/main">
            <a:pPr algn="ctr">
              <a:defRPr sz="12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السجلات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264670-FA6D-4141-A469-82A406C4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0055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Network listeners</a:t>
            </a:r>
          </a:p>
          <a:p xmlns:a="http://schemas.openxmlformats.org/drawingml/2006/main">
            <a:pPr algn="ctr">
              <a:defRPr sz="12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المنافذ المستمعة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11CD0A-AC25-4E6C-9BE0-1601BCAD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0055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Monitoring observations</a:t>
            </a:r>
          </a:p>
          <a:p xmlns:a="http://schemas.openxmlformats.org/drawingml/2006/main">
            <a:pPr algn="ctr">
              <a:defRPr sz="12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ملاحظات المراقبة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B2EBDF-1C63-4C8B-B366-8A4D109E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DE9E8"/>
          </a:solidFill>
          <a:ln xmlns:a="http://schemas.openxmlformats.org/drawingml/2006/main" w="9525">
            <a:solidFill>
              <a:srgbClr val="F0C6C5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9635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63D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63D40"/>
                </a:solidFill>
                <a:latin typeface="Arial"/>
                <a:ea typeface="Arial"/>
                <a:cs typeface="Arial"/>
              </a:rPr>
              <a:t>مبدأ حاكم</a:t>
            </a:r>
          </a:p>
          <a:p xmlns:a="http://schemas.openxmlformats.org/drawingml/2006/main">
            <a:pPr algn="ctr">
              <a:defRPr sz="1275" b="1">
                <a:solidFill>
                  <a:srgbClr val="A63D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63D40"/>
                </a:solidFill>
                <a:latin typeface="Arial"/>
                <a:ea typeface="Arial"/>
                <a:cs typeface="Arial"/>
              </a:rPr>
              <a:t>مخرجات LLM ليست حقيقة تشغيلية بحد ذاتها؛ كل Claim يجب أن يرتبط بـ Project-owned Evidence ID.</a:t>
            </a:r>
          </a:p>
        </p:txBody>
      </p:sp>
    </p:spTree>
    <p:extLst>
      <p:ext uri="{BB962C8B-B14F-4D97-AF65-F5344CB8AC3E}">
        <p14:creationId xmlns:p14="http://schemas.microsoft.com/office/powerpoint/2010/main" val="4256371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1BE77E-D8C4-46CE-8766-D02B8515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التطوير البرمجي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60B323-48B8-41AA-BD6E-9CE532DB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 i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2263A"/>
                </a:solidFill>
                <a:latin typeface="Arial"/>
                <a:ea typeface="Arial"/>
                <a:cs typeface="Arial"/>
              </a:rPr>
              <a:t>منهجية استخدام الذكاء الاصطناعي أثناء التطوير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282F9-E893-45E4-862E-B489BCFE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176407-7CDD-4826-8519-225E92BD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92A96-0C4E-47A0-8B02-688AE48C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40080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Safe Autonomous AI Agent for VPS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FAD6B-2BAE-4933-8790-CB38FF62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00800"/>
            <a:ext cx="293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هندسة برمجيات وذكاء صنعي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C5503E-AE9B-434E-AF29-A2571E79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الذكاء الاصطناعي يسرّع التحليل والتنفيذ، بينما يبقى المستخدم صاحب القرار النهائي.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AECE00-A314-4FFF-9CD3-0539BB7F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34315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D4BC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54D68F-E7CD-4C80-B299-BC5EABF9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955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D4BC1"/>
          </a:solidFill>
          <a:ln xmlns:a="http://schemas.openxmlformats.org/drawingml/2006/main" w="0">
            <a:solidFill>
              <a:srgbClr val="6D4BC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BEADF2-D5A9-4EE8-AD9E-F4D7F0B8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4315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D4BC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51CDF3-A860-4ADC-87B5-D555D15E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955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D4BC1"/>
          </a:solidFill>
          <a:ln xmlns:a="http://schemas.openxmlformats.org/drawingml/2006/main" w="0">
            <a:solidFill>
              <a:srgbClr val="6D4BC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DF8077-AAD7-45D9-BF8C-8EE4CD65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D4BC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42C458-87FB-4738-AAD9-3548EA12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2955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D4BC1"/>
          </a:solidFill>
          <a:ln xmlns:a="http://schemas.openxmlformats.org/drawingml/2006/main" w="0">
            <a:solidFill>
              <a:srgbClr val="6D4BC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34E479-219E-4938-A5FA-A4165BF7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4315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D4B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6621D9-D93A-4BAD-A7A2-13159235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955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D4BC1"/>
          </a:solidFill>
          <a:ln xmlns:a="http://schemas.openxmlformats.org/drawingml/2006/main" w="0">
            <a:solidFill>
              <a:srgbClr val="6D4B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308631-DA32-47C4-B61D-E690028B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4315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D4BC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E80992-EBE9-439F-A292-C400C213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955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D4BC1"/>
          </a:solidFill>
          <a:ln xmlns:a="http://schemas.openxmlformats.org/drawingml/2006/main" w="0">
            <a:solidFill>
              <a:srgbClr val="6D4BC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BE86F1-18CA-472A-8C6D-BE00875F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257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تصميم</a:t>
            </a:r>
          </a:p>
          <a:p xmlns:a="http://schemas.openxmlformats.org/drawingml/2006/main">
            <a:pPr algn="ctr">
              <a:defRPr sz="13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من المستخدم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C166D0-8417-464C-8BA3-ACD697A6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0250"/>
            <a:ext cx="1257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EBFF"/>
          </a:solidFill>
          <a:ln xmlns:a="http://schemas.openxmlformats.org/drawingml/2006/main" w="9525">
            <a:solidFill>
              <a:srgbClr val="F0EBFF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D4BC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4BC1"/>
                </a:solidFill>
                <a:latin typeface="Arial"/>
                <a:ea typeface="Arial"/>
                <a:cs typeface="Arial"/>
              </a:rPr>
              <a:t>خطة تنفيذ</a:t>
            </a:r>
          </a:p>
          <a:p xmlns:a="http://schemas.openxmlformats.org/drawingml/2006/main">
            <a:pPr algn="ctr">
              <a:defRPr sz="1350" b="1">
                <a:solidFill>
                  <a:srgbClr val="6D4BC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4BC1"/>
                </a:solidFill>
                <a:latin typeface="Arial"/>
                <a:ea typeface="Arial"/>
                <a:cs typeface="Arial"/>
              </a:rPr>
              <a:t>من 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89B45B-2AA5-471F-B71F-52AE8A58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00250"/>
            <a:ext cx="1257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مراجعة</a:t>
            </a:r>
          </a:p>
          <a:p xmlns:a="http://schemas.openxmlformats.org/drawingml/2006/main">
            <a:pPr algn="ctr">
              <a:defRPr sz="13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وتعديل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CDE587-F66E-40DF-94A0-07132D49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00250"/>
            <a:ext cx="1257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6F6EE"/>
          </a:solidFill>
          <a:ln xmlns:a="http://schemas.openxmlformats.org/drawingml/2006/main" w="9525">
            <a:solidFill>
              <a:srgbClr val="E6F6EE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79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94F"/>
                </a:solidFill>
                <a:latin typeface="Arial"/>
                <a:ea typeface="Arial"/>
                <a:cs typeface="Arial"/>
              </a:rPr>
              <a:t>موافقة</a:t>
            </a:r>
          </a:p>
          <a:p xmlns:a="http://schemas.openxmlformats.org/drawingml/2006/main">
            <a:pPr algn="ctr">
              <a:defRPr sz="1350" b="1">
                <a:solidFill>
                  <a:srgbClr val="1679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94F"/>
                </a:solidFill>
                <a:latin typeface="Arial"/>
                <a:ea typeface="Arial"/>
                <a:cs typeface="Arial"/>
              </a:rPr>
              <a:t>المستخدم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8DFB58-930F-4403-B42C-141324A8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00250"/>
            <a:ext cx="1257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9525">
            <a:solidFill>
              <a:srgbClr val="E9F0FF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تعديل</a:t>
            </a:r>
          </a:p>
          <a:p xmlns:a="http://schemas.openxmlformats.org/drawingml/2006/main">
            <a:pPr algn="ctr">
              <a:defRPr sz="13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الكود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852E69-A0AB-4392-92F3-35AAC04D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00250"/>
            <a:ext cx="1257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FFF1D6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56A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56A00"/>
                </a:solidFill>
                <a:latin typeface="Arial"/>
                <a:ea typeface="Arial"/>
                <a:cs typeface="Arial"/>
              </a:rPr>
              <a:t>اختبار</a:t>
            </a:r>
          </a:p>
          <a:p xmlns:a="http://schemas.openxmlformats.org/drawingml/2006/main">
            <a:pPr algn="ctr">
              <a:defRPr sz="1350" b="1">
                <a:solidFill>
                  <a:srgbClr val="B56A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56A00"/>
                </a:solidFill>
                <a:latin typeface="Arial"/>
                <a:ea typeface="Arial"/>
                <a:cs typeface="Arial"/>
              </a:rPr>
              <a:t>وتحقق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E0EFD9-0AEA-4905-B572-4F8F55C2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0383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DE9E8"/>
          </a:solidFill>
          <a:ln xmlns:a="http://schemas.openxmlformats.org/drawingml/2006/main" w="9525">
            <a:solidFill>
              <a:srgbClr val="F0C6C5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63D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63D40"/>
                </a:solidFill>
                <a:latin typeface="Arial"/>
                <a:ea typeface="Arial"/>
                <a:cs typeface="Arial"/>
              </a:rPr>
              <a:t>هل ظهر خطأ؟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2FC562-D136-414C-BE5E-4F8C85DF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33750"/>
            <a:ext cx="5943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نعم: إرسال Traceback إلى AI → تحليل السبب → خطة إصلاح → موافقة المستخدم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1054BC-A2E0-4104-97EA-C66E6FF8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22669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6F6EE"/>
          </a:solidFill>
          <a:ln xmlns:a="http://schemas.openxmlformats.org/drawingml/2006/main" w="9525">
            <a:solidFill>
              <a:srgbClr val="BFE8D4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9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794F"/>
                </a:solidFill>
                <a:latin typeface="Arial"/>
                <a:ea typeface="Arial"/>
                <a:cs typeface="Arial"/>
              </a:rPr>
              <a:t>لا: اعتماد التغيير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84F17A-6F7D-4159-B485-550704E5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2190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دور المستخدم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31DCAE-D26E-45CA-A15A-3C6204BB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324350"/>
            <a:ext cx="8496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2263A"/>
                </a:solidFill>
                <a:latin typeface="Arial"/>
                <a:ea typeface="Arial"/>
                <a:cs typeface="Arial"/>
              </a:rPr>
              <a:t>يرسم الفكرة • يراجع الخطة • يعدّل النطاق • يوافق أو يرفض • يعتمد التغيير بعد الاختبار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A4DB60-931D-4EA2-8474-63024C39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342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D4BC1"/>
          </a:solidFill>
          <a:ln xmlns:a="http://schemas.openxmlformats.org/drawingml/2006/main" w="9525">
            <a:solidFill>
              <a:srgbClr val="6D4BC1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ما الذي تم التحقق منه بعد اقتراحات AI؟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577323-AE55-41AE-843B-DAA1AE9A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105400"/>
            <a:ext cx="7181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EBFF"/>
          </a:solidFill>
          <a:ln xmlns:a="http://schemas.openxmlformats.org/drawingml/2006/main" w="9525">
            <a:solidFill>
              <a:srgbClr val="D8C9FF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D4BC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D4BC1"/>
                </a:solidFill>
                <a:latin typeface="Arial"/>
                <a:ea typeface="Arial"/>
                <a:cs typeface="Arial"/>
              </a:rPr>
              <a:t>tests + acceptance evidence + مراجعة Traceback + مراجعة يدوية للتعديلات الحساسة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C0BA65-57B7-4D32-A736-145B9F26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FF4F2"/>
          </a:solidFill>
          <a:ln xmlns:a="http://schemas.openxmlformats.org/drawingml/2006/main" w="9525">
            <a:solidFill>
              <a:srgbClr val="B7E5E2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القاعدة العملية: AI يقترح ويحلل وينفذ ما يُطلب منه؛ المستخدم يوافق أو يرفض؛ ولا يُعتمد أي تغيير بلا تحقق.</a:t>
            </a:r>
          </a:p>
        </p:txBody>
      </p:sp>
    </p:spTree>
    <p:extLst>
      <p:ext uri="{BB962C8B-B14F-4D97-AF65-F5344CB8AC3E}">
        <p14:creationId xmlns:p14="http://schemas.microsoft.com/office/powerpoint/2010/main" val="4598704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8C39A8-DAE7-4BF4-9652-D0E7E7D3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التحقق والخلاصة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EC0B2D-DB54-4D26-AAAD-44BCA19E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 i="0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2263A"/>
                </a:solidFill>
                <a:latin typeface="Arial"/>
                <a:ea typeface="Arial"/>
                <a:cs typeface="Arial"/>
              </a:rPr>
              <a:t>الاختبارات والنتائج والخلاصة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4FDAC-B3AB-4A83-AB62-449095BB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3BD870-2783-47E6-8022-27A44B5B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9DB53-97A7-4987-8FDD-6686DDF5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40080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Safe Autonomous AI Agent for VPS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2E898-1E05-4EA3-873E-ADB8C6A2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00800"/>
            <a:ext cx="293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هندسة برمجيات وذكاء صنعي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B2F33-A8DE-4BFF-9BE4-BB3FD9C5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النتيجة ليست PASS فقط؛ كل اختبار يثبت طبقة مختلفة من الجاهزية.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685800" y="1695450"/>
          <a:ext xmlns:a="http://schemas.openxmlformats.org/drawingml/2006/main" cx="10820400" cy="3009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905500"/>
                <a:gridCol w="2819400"/>
              </a:tblGrid>
              <a:tr h="376238">
                <a:tc>
                  <a:txBody>
                    <a:bodyPr>
                      <a:normAutofit/>
                    </a:bodyPr>
                    <a:lstStyle/>
                    <a:p>
                      <a:pPr algn="r"/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نوع الاختبار</a:t>
                      </a:r>
                    </a:p>
                  </a:txBody>
                  <a:tcPr marL="91440" marR="91440" marT="45720" marB="45720" anchor="ctr">
                    <a:solidFill>
                      <a:srgbClr val="12263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r"/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ماذا يثبت؟</a:t>
                      </a:r>
                    </a:p>
                  </a:txBody>
                  <a:tcPr marL="91440" marR="91440" marT="45720" marB="45720" anchor="ctr">
                    <a:solidFill>
                      <a:srgbClr val="12263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النتيجة</a:t>
                      </a:r>
                    </a:p>
                  </a:txBody>
                  <a:tcPr marL="91440" marR="91440" marT="45720" marB="45720" anchor="ctr">
                    <a:solidFill>
                      <a:srgbClr val="12263A"/>
                    </a:solidFill>
                  </a:tcPr>
                </a:tc>
              </a:tr>
              <a:tr h="376238">
                <a:tc>
                  <a:txBody>
                    <a:bodyPr>
                      <a:normAutofit/>
                    </a:bodyPr>
                    <a:lstStyle/>
                    <a:p>
                      <a:pPr algn="r"/>
                      <a:r>
                        <a:rPr sz="1050" b="0">
                          <a:solidFill>
                            <a:srgbClr val="12263A"/>
                          </a:solidFill>
                          <a:latin typeface="Arial"/>
                          <a:ea typeface="Arial"/>
                          <a:cs typeface="Arial"/>
                        </a:rPr>
                        <a:t>Unit Tests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r"/>
                      <a:r>
                        <a:rPr sz="1050" b="0">
                          <a:solidFill>
                            <a:srgbClr val="12263A"/>
                          </a:solidFill>
                          <a:latin typeface="Arial"/>
                          <a:ea typeface="Arial"/>
                          <a:cs typeface="Arial"/>
                        </a:rPr>
                        <a:t>عقود المجال، التصنيف، parsers، policies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16794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76238">
                <a:tc>
                  <a:txBody>
                    <a:bodyPr>
                      <a:normAutofit/>
                    </a:bodyPr>
                    <a:lstStyle/>
                    <a:p>
                      <a:pPr algn="r"/>
                      <a:r>
                        <a:rPr sz="1050" b="0">
                          <a:solidFill>
                            <a:srgbClr val="12263A"/>
                          </a:solidFill>
                          <a:latin typeface="Arial"/>
                          <a:ea typeface="Arial"/>
                          <a:cs typeface="Arial"/>
                        </a:rPr>
                        <a:t>Integration Tests</a:t>
                      </a:r>
                    </a:p>
                  </a:txBody>
                  <a:tcPr marL="91440" marR="91440" marT="45720" marB="45720" anchor="ctr">
                    <a:solidFill>
                      <a:srgbClr val="F3F7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r"/>
                      <a:r>
                        <a:rPr sz="1050" b="0">
                          <a:solidFill>
                            <a:srgbClr val="12263A"/>
                          </a:solidFill>
                          <a:latin typeface="Arial"/>
                          <a:ea typeface="Arial"/>
                          <a:cs typeface="Arial"/>
                        </a:rPr>
                        <a:t>Monitoring وAnalysis وInvestigation وRemediation وDatabase</a:t>
                      </a:r>
                    </a:p>
                  </a:txBody>
                  <a:tcPr marL="91440" marR="91440" marT="45720" marB="45720" anchor="ctr">
                    <a:solidFill>
                      <a:srgbClr val="F3F7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16794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 anchor="ctr">
                    <a:solidFill>
                      <a:srgbClr val="F3F7FA"/>
                    </a:solidFill>
                  </a:tcPr>
                </a:tc>
              </a:tr>
              <a:tr h="376238">
                <a:tc>
                  <a:txBody>
                    <a:bodyPr>
                      <a:normAutofit/>
                    </a:bodyPr>
                    <a:lstStyle/>
                    <a:p>
                      <a:pPr algn="r"/>
                      <a:r>
                        <a:rPr sz="1050" b="0">
                          <a:solidFill>
                            <a:srgbClr val="12263A"/>
                          </a:solidFill>
                          <a:latin typeface="Arial"/>
                          <a:ea typeface="Arial"/>
                          <a:cs typeface="Arial"/>
                        </a:rPr>
                        <a:t>Security Tests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r"/>
                      <a:r>
                        <a:rPr sz="1050" b="0">
                          <a:solidFill>
                            <a:srgbClr val="12263A"/>
                          </a:solidFill>
                          <a:latin typeface="Arial"/>
                          <a:ea typeface="Arial"/>
                          <a:cs typeface="Arial"/>
                        </a:rPr>
                        <a:t>RBAC وCSRF وMCP boundary وsecrets وsafe defaults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16794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76238">
                <a:tc>
                  <a:txBody>
                    <a:bodyPr>
                      <a:normAutofit/>
                    </a:bodyPr>
                    <a:lstStyle/>
                    <a:p>
                      <a:pPr algn="r"/>
                      <a:r>
                        <a:rPr sz="1050" b="0">
                          <a:solidFill>
                            <a:srgbClr val="12263A"/>
                          </a:solidFill>
                          <a:latin typeface="Arial"/>
                          <a:ea typeface="Arial"/>
                          <a:cs typeface="Arial"/>
                        </a:rPr>
                        <a:t>Real Acceptance</a:t>
                      </a:r>
                    </a:p>
                  </a:txBody>
                  <a:tcPr marL="91440" marR="91440" marT="45720" marB="45720" anchor="ctr">
                    <a:solidFill>
                      <a:srgbClr val="F3F7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r"/>
                      <a:r>
                        <a:rPr sz="1050" b="0">
                          <a:solidFill>
                            <a:srgbClr val="12263A"/>
                          </a:solidFill>
                          <a:latin typeface="Arial"/>
                          <a:ea typeface="Arial"/>
                          <a:cs typeface="Arial"/>
                        </a:rPr>
                        <a:t>تنفيذ Phase 7 الآمن على بيئة مخصصة</a:t>
                      </a:r>
                    </a:p>
                  </a:txBody>
                  <a:tcPr marL="91440" marR="91440" marT="45720" marB="45720" anchor="ctr">
                    <a:solidFill>
                      <a:srgbClr val="F3F7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16794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 anchor="ctr">
                    <a:solidFill>
                      <a:srgbClr val="F3F7FA"/>
                    </a:solidFill>
                  </a:tcPr>
                </a:tc>
              </a:tr>
              <a:tr h="376238">
                <a:tc>
                  <a:txBody>
                    <a:bodyPr>
                      <a:normAutofit/>
                    </a:bodyPr>
                    <a:lstStyle/>
                    <a:p>
                      <a:pPr algn="r"/>
                      <a:r>
                        <a:rPr sz="1050" b="0">
                          <a:solidFill>
                            <a:srgbClr val="12263A"/>
                          </a:solidFill>
                          <a:latin typeface="Arial"/>
                          <a:ea typeface="Arial"/>
                          <a:cs typeface="Arial"/>
                        </a:rPr>
                        <a:t>Manual Acceptance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r"/>
                      <a:r>
                        <a:rPr sz="1050" b="0">
                          <a:solidFill>
                            <a:srgbClr val="12263A"/>
                          </a:solidFill>
                          <a:latin typeface="Arial"/>
                          <a:ea typeface="Arial"/>
                          <a:cs typeface="Arial"/>
                        </a:rPr>
                        <a:t>Admin UI مع الأدوار والصلاحيات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16794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76238">
                <a:tc>
                  <a:txBody>
                    <a:bodyPr>
                      <a:normAutofit/>
                    </a:bodyPr>
                    <a:lstStyle/>
                    <a:p>
                      <a:pPr algn="r"/>
                      <a:r>
                        <a:rPr sz="1050" b="0">
                          <a:solidFill>
                            <a:srgbClr val="12263A"/>
                          </a:solidFill>
                          <a:latin typeface="Arial"/>
                          <a:ea typeface="Arial"/>
                          <a:cs typeface="Arial"/>
                        </a:rPr>
                        <a:t>Fresh-start Test</a:t>
                      </a:r>
                    </a:p>
                  </a:txBody>
                  <a:tcPr marL="91440" marR="91440" marT="45720" marB="45720" anchor="ctr">
                    <a:solidFill>
                      <a:srgbClr val="F3F7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r"/>
                      <a:r>
                        <a:rPr sz="1050" b="0">
                          <a:solidFill>
                            <a:srgbClr val="12263A"/>
                          </a:solidFill>
                          <a:latin typeface="Arial"/>
                          <a:ea typeface="Arial"/>
                          <a:cs typeface="Arial"/>
                        </a:rPr>
                        <a:t>تشغيل المشروع من README في بيئة نظيفة</a:t>
                      </a:r>
                    </a:p>
                  </a:txBody>
                  <a:tcPr marL="91440" marR="91440" marT="45720" marB="45720" anchor="ctr">
                    <a:solidFill>
                      <a:srgbClr val="F3F7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16794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 anchor="ctr">
                    <a:solidFill>
                      <a:srgbClr val="F3F7FA"/>
                    </a:solidFill>
                  </a:tcPr>
                </a:tc>
              </a:tr>
              <a:tr h="376238">
                <a:tc>
                  <a:txBody>
                    <a:bodyPr>
                      <a:normAutofit/>
                    </a:bodyPr>
                    <a:lstStyle/>
                    <a:p>
                      <a:pPr algn="r"/>
                      <a:r>
                        <a:rPr sz="1050" b="0">
                          <a:solidFill>
                            <a:srgbClr val="12263A"/>
                          </a:solidFill>
                          <a:latin typeface="Arial"/>
                          <a:ea typeface="Arial"/>
                          <a:cs typeface="Arial"/>
                        </a:rPr>
                        <a:t>Final Regression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r"/>
                      <a:r>
                        <a:rPr sz="1050" b="0">
                          <a:solidFill>
                            <a:srgbClr val="12263A"/>
                          </a:solidFill>
                          <a:latin typeface="Arial"/>
                          <a:ea typeface="Arial"/>
                          <a:cs typeface="Arial"/>
                        </a:rPr>
                        <a:t>استقرار النظام كاملًا بعد جميع التعديلات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16794F"/>
                          </a:solidFill>
                          <a:latin typeface="Arial"/>
                          <a:ea typeface="Arial"/>
                          <a:cs typeface="Arial"/>
                        </a:rPr>
                        <a:t>620 passed / 4 skipped / 0 failed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408C28-A349-4888-99D0-7B3799AA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Database Schema</a:t>
            </a:r>
          </a:p>
          <a:p xmlns:a="http://schemas.openxmlformats.org/drawingml/2006/main">
            <a:pPr algn="ctr">
              <a:defRPr sz="120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33 / 33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572F59-459D-4096-ABB2-8B9C1717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91490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D4BC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4BC1"/>
                </a:solidFill>
                <a:latin typeface="Arial"/>
                <a:ea typeface="Arial"/>
                <a:cs typeface="Arial"/>
              </a:rPr>
              <a:t>RAG Indexes</a:t>
            </a:r>
          </a:p>
          <a:p xmlns:a="http://schemas.openxmlformats.org/drawingml/2006/main">
            <a:pPr algn="ctr">
              <a:defRPr sz="1200" b="1">
                <a:solidFill>
                  <a:srgbClr val="6D4BC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4BC1"/>
                </a:solidFill>
                <a:latin typeface="Arial"/>
                <a:ea typeface="Arial"/>
                <a:cs typeface="Arial"/>
              </a:rPr>
              <a:t>3 /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39CC36-15BE-4B25-BD2D-CF8CF614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1490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Specialists</a:t>
            </a:r>
          </a:p>
          <a:p xmlns:a="http://schemas.openxmlformats.org/drawingml/2006/main">
            <a:pPr algn="ctr">
              <a:defRPr sz="12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DA2826-FB45-4F2A-8B04-9B401342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1490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56A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56A00"/>
                </a:solidFill>
                <a:latin typeface="Arial"/>
                <a:ea typeface="Arial"/>
                <a:cs typeface="Arial"/>
              </a:rPr>
              <a:t>MCP Tools</a:t>
            </a:r>
          </a:p>
          <a:p xmlns:a="http://schemas.openxmlformats.org/drawingml/2006/main">
            <a:pPr algn="ctr">
              <a:defRPr sz="1200" b="1">
                <a:solidFill>
                  <a:srgbClr val="B56A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56A0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3451D8-E38E-4C74-B1C8-CAB6046A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63D4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A63D40"/>
                </a:solidFill>
                <a:latin typeface="Arial"/>
                <a:ea typeface="Arial"/>
                <a:cs typeface="Arial"/>
              </a:rPr>
              <a:t>Known Limitations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836CCF-794F-488C-88D7-C903F00C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76900"/>
            <a:ext cx="912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SPEC-08 Social Notification: Accepted Deviation  •  Real Claude multi-Specialist finalization within 300s: Accepted non-blocking limitation  •  Starlette / httpx warning: Non-blocking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AC77D1-147B-49A2-A86F-CDFCB5CB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7429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6F6EE"/>
          </a:solidFill>
          <a:ln xmlns:a="http://schemas.openxmlformats.org/drawingml/2006/main" w="9525">
            <a:solidFill>
              <a:srgbClr val="BFE8D4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rmAutofit fontScale="6285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794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94F"/>
                </a:solidFill>
                <a:latin typeface="Arial"/>
                <a:ea typeface="Arial"/>
                <a:cs typeface="Arial"/>
              </a:rPr>
              <a:t>PROJECT_READY_FOR_DELIVERY = YES    |    PROJECT_READY_FOR_DEFENSE = YES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B148F5-FE8F-4814-BB47-C438BEDC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0007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يلي ذلك Demo عملي مستقل مدته 4 دقائق.</a:t>
            </a:r>
          </a:p>
        </p:txBody>
      </p:sp>
    </p:spTree>
    <p:extLst>
      <p:ext uri="{BB962C8B-B14F-4D97-AF65-F5344CB8AC3E}">
        <p14:creationId xmlns:p14="http://schemas.microsoft.com/office/powerpoint/2010/main" val="19134182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2026-08-18T04:00:28.4600000Z</dcterms:created>
  <dcterms:modified xsi:type="dcterms:W3CDTF">2026-08-18T04:00:28.4600000Z</dcterms:modified>
</coreProperties>
</file>